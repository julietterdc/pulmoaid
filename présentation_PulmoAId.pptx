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font" Target="fonts/Inter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5178bf3d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a5178bf3d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c7fec24e0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c7fec24e0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5178bf3d4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a5178bf3d4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7feb7f43d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1c7feb7f43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c7feb7f43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g1c7feb7f43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c7feb7f4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1c7feb7f4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d895f65cf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2d895f65cf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c7feb7f43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1c7feb7f4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c7feb7f4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1c7feb7f4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5178bf3d4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a5178bf3d4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hyperlink" Target="https://david-rem-jedha-final-project-mlops.hf.space/#/experiments/1?searchFilter=&amp;orderByKey=metrics.%60macro_avg_f1_score%60&amp;orderByAsc=false&amp;startTime=ALL&amp;lifecycleFilter=Active&amp;modelVersionFilter=All+Runs&amp;datasetsFilter=W10%3D" TargetMode="External"/><Relationship Id="rId11" Type="http://schemas.openxmlformats.org/officeDocument/2006/relationships/hyperlink" Target="https://david-rem-jedha-final-project-api.hf.space/docs" TargetMode="External"/><Relationship Id="rId10" Type="http://schemas.openxmlformats.org/officeDocument/2006/relationships/hyperlink" Target="https://david-rem-jedha-final-project-mlops.hf.space/#/experiments/1?searchFilter=&amp;orderByKey=metrics.%60macro_avg_f1_score%60&amp;orderByAsc=false&amp;startTime=ALL&amp;lifecycleFilter=Active&amp;modelVersionFilter=All+Runs&amp;datasetsFilter=W10%3D" TargetMode="External"/><Relationship Id="rId12" Type="http://schemas.openxmlformats.org/officeDocument/2006/relationships/hyperlink" Target="https://david-rem-jedha-final-project-app.hf.space/" TargetMode="External"/><Relationship Id="rId9" Type="http://schemas.openxmlformats.org/officeDocument/2006/relationships/image" Target="../media/image21.png"/><Relationship Id="rId5" Type="http://schemas.openxmlformats.org/officeDocument/2006/relationships/image" Target="../media/image9.png"/><Relationship Id="rId6" Type="http://schemas.openxmlformats.org/officeDocument/2006/relationships/hyperlink" Target="https://david-rem-jedha-final-project-api.hf.space/docs" TargetMode="External"/><Relationship Id="rId7" Type="http://schemas.openxmlformats.org/officeDocument/2006/relationships/image" Target="../media/image10.png"/><Relationship Id="rId8" Type="http://schemas.openxmlformats.org/officeDocument/2006/relationships/hyperlink" Target="https://david-rem-jedha-final-project-app.hf.spac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9" Type="http://schemas.openxmlformats.org/officeDocument/2006/relationships/image" Target="../media/image12.jp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hyperlink" Target="https://drive.google.com/file/d/132j2e0oCllzua_J2nbLwBMg8EaVHsifO/view?usp=drive_link" TargetMode="External"/><Relationship Id="rId8" Type="http://schemas.openxmlformats.org/officeDocument/2006/relationships/hyperlink" Target="http://drive.google.com/file/d/132j2e0oCllzua_J2nbLwBMg8EaVHsifO/view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4500" y="795925"/>
            <a:ext cx="721025" cy="7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1450" y="707875"/>
            <a:ext cx="4595076" cy="404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5500" y="-17775"/>
            <a:ext cx="3335400" cy="51612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90600" y="1138675"/>
            <a:ext cx="25131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Membres du </a:t>
            </a:r>
            <a:r>
              <a:rPr lang="fr" sz="2400">
                <a:solidFill>
                  <a:srgbClr val="015955"/>
                </a:solidFill>
                <a:latin typeface="Inter"/>
                <a:ea typeface="Inter"/>
                <a:cs typeface="Inter"/>
                <a:sym typeface="Inter"/>
              </a:rPr>
              <a:t>Groupe</a:t>
            </a:r>
            <a:endParaRPr sz="2400">
              <a:solidFill>
                <a:srgbClr val="0159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4277525" y="1191425"/>
            <a:ext cx="4080000" cy="28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David Remond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Eugénie Modolo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Juliette Rodrigues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>
                <a:solidFill>
                  <a:schemeClr val="dk2"/>
                </a:solidFill>
              </a:rPr>
              <a:t>Sophie Laussel</a:t>
            </a:r>
            <a:endParaRPr sz="2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</a:rPr>
              <a:t>Nous remercions chaleureusement Malika et Sabrine pour leur aide (et tous les autres profs Jedha 😊)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000" y="2895000"/>
            <a:ext cx="4572000" cy="20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Description du problème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717925" y="1141450"/>
            <a:ext cx="7728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P</a:t>
            </a:r>
            <a:r>
              <a:rPr lang="fr" sz="1500">
                <a:solidFill>
                  <a:schemeClr val="dk2"/>
                </a:solidFill>
              </a:rPr>
              <a:t>énurie de radiologues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Outil d’aide à la prise de décision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Le médecin prend toujours la décision finale</a:t>
            </a:r>
            <a:br>
              <a:rPr lang="fr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Dataset utilisé : </a:t>
            </a:r>
            <a:r>
              <a:rPr b="1" lang="fr" sz="1500">
                <a:solidFill>
                  <a:schemeClr val="dk2"/>
                </a:solidFill>
              </a:rPr>
              <a:t>80.000 images png pré-processées</a:t>
            </a:r>
            <a:r>
              <a:rPr lang="fr" sz="1500">
                <a:solidFill>
                  <a:schemeClr val="dk2"/>
                </a:solidFill>
              </a:rPr>
              <a:t> issues de Kaggle </a:t>
            </a:r>
            <a:br>
              <a:rPr lang="fr" sz="1500">
                <a:solidFill>
                  <a:schemeClr val="dk2"/>
                </a:solidFill>
              </a:rPr>
            </a:br>
            <a:endParaRPr sz="1500">
              <a:solidFill>
                <a:srgbClr val="FF0000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5">
            <a:alphaModFix/>
          </a:blip>
          <a:srcRect b="0" l="278" r="268" t="0"/>
          <a:stretch/>
        </p:blipFill>
        <p:spPr>
          <a:xfrm>
            <a:off x="612000" y="2790688"/>
            <a:ext cx="4572000" cy="20523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/>
        </p:nvSpPr>
        <p:spPr>
          <a:xfrm>
            <a:off x="838200" y="2727975"/>
            <a:ext cx="16764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Images par classe</a:t>
            </a:r>
            <a:endParaRPr sz="300">
              <a:solidFill>
                <a:schemeClr val="dk2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0" y="2895600"/>
            <a:ext cx="2438401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5806425" y="2761800"/>
            <a:ext cx="16764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</a:rPr>
              <a:t>Normal Vs Malades</a:t>
            </a:r>
            <a:endParaRPr sz="3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Méthodologie : Deep Learning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213" y="3508025"/>
            <a:ext cx="4684374" cy="1310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7025" y="3508024"/>
            <a:ext cx="3854139" cy="13106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6"/>
          <p:cNvSpPr txBox="1"/>
          <p:nvPr/>
        </p:nvSpPr>
        <p:spPr>
          <a:xfrm>
            <a:off x="717925" y="1012550"/>
            <a:ext cx="7728600" cy="3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Un a</a:t>
            </a:r>
            <a:r>
              <a:rPr lang="fr" sz="1500">
                <a:solidFill>
                  <a:schemeClr val="dk2"/>
                </a:solidFill>
              </a:rPr>
              <a:t>lgorithme qui fonctionne en deux temps :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★"/>
            </a:pPr>
            <a:r>
              <a:rPr lang="fr" sz="1500">
                <a:solidFill>
                  <a:schemeClr val="dk2"/>
                </a:solidFill>
              </a:rPr>
              <a:t>classification binaire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★"/>
            </a:pPr>
            <a:r>
              <a:rPr lang="fr" sz="1500">
                <a:solidFill>
                  <a:schemeClr val="dk2"/>
                </a:solidFill>
              </a:rPr>
              <a:t>classification multiple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</a:rPr>
              <a:t>Modèles entraînés :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Baseline			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VGG19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ResNet50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EfficientNetB0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fr" sz="1500">
                <a:solidFill>
                  <a:schemeClr val="dk2"/>
                </a:solidFill>
              </a:rPr>
              <a:t>InceptionV3</a:t>
            </a:r>
            <a:br>
              <a:rPr lang="fr" sz="1500">
                <a:solidFill>
                  <a:schemeClr val="dk2"/>
                </a:solidFill>
              </a:rPr>
            </a:br>
            <a:br>
              <a:rPr lang="fr" sz="1500">
                <a:solidFill>
                  <a:schemeClr val="dk2"/>
                </a:solidFill>
              </a:rPr>
            </a:b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237150" y="3896075"/>
            <a:ext cx="4684500" cy="1545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5027050" y="3660050"/>
            <a:ext cx="3854100" cy="154500"/>
          </a:xfrm>
          <a:prstGeom prst="rect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425" y="3847625"/>
            <a:ext cx="6034175" cy="2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92300" y="3596400"/>
            <a:ext cx="4684350" cy="218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Résultats : tests de cohérence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8400" y="1482325"/>
            <a:ext cx="3741624" cy="3409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6969" y="1656469"/>
            <a:ext cx="2952425" cy="234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717925" y="1141450"/>
            <a:ext cx="7728600" cy="3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chemeClr val="dk2"/>
                </a:solidFill>
              </a:rPr>
              <a:t>Modèle binaire :						Modèle 7 classes :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300">
                <a:solidFill>
                  <a:schemeClr val="dk2"/>
                </a:solidFill>
              </a:rPr>
              <a:t>f1-score avg : 98 %					</a:t>
            </a:r>
            <a:r>
              <a:rPr lang="fr" sz="1300">
                <a:solidFill>
                  <a:schemeClr val="dk2"/>
                </a:solidFill>
              </a:rPr>
              <a:t>f1-score avg : 98 %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de la solution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8"/>
          <p:cNvSpPr txBox="1"/>
          <p:nvPr/>
        </p:nvSpPr>
        <p:spPr>
          <a:xfrm>
            <a:off x="1151925" y="1433225"/>
            <a:ext cx="6630300" cy="27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1675" y="907150"/>
            <a:ext cx="7532026" cy="394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Démonstration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" name="Google Shape;117;p1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525" y="3012475"/>
            <a:ext cx="3007483" cy="1401624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8" name="Google Shape;118;p19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27912" y="3012475"/>
            <a:ext cx="2408876" cy="1401624"/>
          </a:xfrm>
          <a:prstGeom prst="rect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p1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14700" y="3012475"/>
            <a:ext cx="2896551" cy="140162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717925" y="1141450"/>
            <a:ext cx="7728600" cy="17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chemeClr val="dk2"/>
                </a:solidFill>
              </a:rPr>
              <a:t>Services principaux proposés :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fr" sz="1500">
                <a:solidFill>
                  <a:schemeClr val="dk2"/>
                </a:solidFill>
              </a:rPr>
              <a:t>prédiction de la pathologie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fr" sz="1500">
                <a:solidFill>
                  <a:schemeClr val="dk2"/>
                </a:solidFill>
              </a:rPr>
              <a:t>identification des zones ayant influencé cette prédiction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-"/>
            </a:pPr>
            <a:r>
              <a:rPr lang="fr" sz="1500">
                <a:solidFill>
                  <a:schemeClr val="dk2"/>
                </a:solidFill>
              </a:rPr>
              <a:t>fourniture de radiologies similaires pour les pathologies les plus probables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FF0000"/>
                </a:solidFill>
              </a:rPr>
              <a:t>    </a:t>
            </a:r>
            <a:r>
              <a:rPr lang="fr" sz="1500" u="sng">
                <a:solidFill>
                  <a:schemeClr val="accent5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MLflow</a:t>
            </a:r>
            <a:r>
              <a:rPr lang="fr" sz="1500">
                <a:solidFill>
                  <a:schemeClr val="dk1"/>
                </a:solidFill>
              </a:rPr>
              <a:t> 				  		</a:t>
            </a:r>
            <a:r>
              <a:rPr lang="fr" sz="1500" u="sng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API</a:t>
            </a:r>
            <a:r>
              <a:rPr lang="fr" sz="1500">
                <a:solidFill>
                  <a:schemeClr val="dk1"/>
                </a:solidFill>
              </a:rPr>
              <a:t> 					     </a:t>
            </a:r>
            <a:r>
              <a:rPr lang="fr" sz="1500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PulmoAId</a:t>
            </a:r>
            <a:r>
              <a:rPr lang="fr" sz="1500">
                <a:solidFill>
                  <a:schemeClr val="dk1"/>
                </a:solidFill>
              </a:rPr>
              <a:t>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Démonstration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26" name="Google Shape;1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0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5142" y="2762100"/>
            <a:ext cx="2550458" cy="2050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8350" y="641335"/>
            <a:ext cx="4218552" cy="20413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8350" y="2762100"/>
            <a:ext cx="4218552" cy="205068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/>
        </p:nvSpPr>
        <p:spPr>
          <a:xfrm>
            <a:off x="1192675" y="1012600"/>
            <a:ext cx="8085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 u="sng">
                <a:solidFill>
                  <a:schemeClr val="hlink"/>
                </a:solidFill>
                <a:hlinkClick r:id="rId7"/>
              </a:rPr>
              <a:t>Démo</a:t>
            </a:r>
            <a:endParaRPr sz="1000">
              <a:solidFill>
                <a:schemeClr val="dk2"/>
              </a:solidFill>
            </a:endParaRPr>
          </a:p>
        </p:txBody>
      </p:sp>
      <p:pic>
        <p:nvPicPr>
          <p:cNvPr id="132" name="Google Shape;132;p20" title="jedha-final-project.mp4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5150" y="1260116"/>
            <a:ext cx="2550451" cy="14346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717925" y="1141450"/>
            <a:ext cx="7728600" cy="37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fr" sz="1500">
                <a:solidFill>
                  <a:schemeClr val="dk2"/>
                </a:solidFill>
              </a:rPr>
              <a:t>Optimisation</a:t>
            </a:r>
            <a:r>
              <a:rPr lang="fr" sz="1500">
                <a:solidFill>
                  <a:schemeClr val="dk2"/>
                </a:solidFill>
              </a:rPr>
              <a:t> des modèles : 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tester toutes les combinaisons d’hyper-paramètres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travailler sur le seuil pour le softmax 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diminuer le taux de data augmentation pour le modèle binaire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fr" sz="1500">
                <a:solidFill>
                  <a:schemeClr val="dk2"/>
                </a:solidFill>
              </a:rPr>
              <a:t>Evolution de l’application :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ajouter d’autres pathologies liées au poumon 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combiner avec d’autres données patients 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suivre dans le temps l’évolution des examens</a:t>
            </a:r>
            <a:endParaRPr sz="1500">
              <a:solidFill>
                <a:schemeClr val="dk2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fr" sz="1500">
                <a:solidFill>
                  <a:schemeClr val="dk2"/>
                </a:solidFill>
              </a:rPr>
              <a:t>dupliquer le principe pour traiter d’autres types de radiologies 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500">
                <a:solidFill>
                  <a:srgbClr val="0000FF"/>
                </a:solidFill>
              </a:rPr>
              <a:t>Il ne nous reste plus qu’à lancer le crowdfunding !</a:t>
            </a:r>
            <a:endParaRPr sz="15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38" name="Google Shape;138;p21"/>
          <p:cNvSpPr txBox="1"/>
          <p:nvPr>
            <p:ph idx="4294967295" type="ctrTitle"/>
          </p:nvPr>
        </p:nvSpPr>
        <p:spPr>
          <a:xfrm>
            <a:off x="1192664" y="403309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25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Prochaines étapes </a:t>
            </a:r>
            <a:endParaRPr i="0" sz="25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1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2875" y="1256550"/>
            <a:ext cx="883475" cy="176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0675" y="3653100"/>
            <a:ext cx="1731375" cy="111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idx="4294967295" type="ctrTitle"/>
          </p:nvPr>
        </p:nvSpPr>
        <p:spPr>
          <a:xfrm>
            <a:off x="2029800" y="208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" sz="52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Merci !</a:t>
            </a:r>
            <a:endParaRPr i="0" sz="5200" u="none" cap="none" strike="noStrik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